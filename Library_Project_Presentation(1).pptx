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6" r:id="rId4"/>
    <p:sldId id="258" r:id="rId5"/>
    <p:sldId id="259" r:id="rId6"/>
    <p:sldId id="260" r:id="rId7"/>
    <p:sldId id="261" r:id="rId8"/>
    <p:sldId id="268" r:id="rId9"/>
    <p:sldId id="269" r:id="rId10"/>
    <p:sldId id="262" r:id="rId11"/>
    <p:sldId id="270" r:id="rId12"/>
    <p:sldId id="271" r:id="rId13"/>
    <p:sldId id="272" r:id="rId14"/>
    <p:sldId id="273" r:id="rId15"/>
    <p:sldId id="263" r:id="rId16"/>
    <p:sldId id="274" r:id="rId17"/>
    <p:sldId id="264" r:id="rId18"/>
    <p:sldId id="265" r:id="rId19"/>
    <p:sldId id="275"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E9575A-E3C5-AB58-4251-58E17DA6939E}" v="207" dt="2025-11-22T15:30:53.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8657"/>
            <a:ext cx="8229600" cy="1143000"/>
          </a:xfrm>
        </p:spPr>
        <p:txBody>
          <a:bodyPr>
            <a:normAutofit fontScale="90000"/>
          </a:bodyPr>
          <a:lstStyle/>
          <a:p>
            <a:r>
              <a:rPr lang="en-US" dirty="0"/>
              <a:t>TOPIC</a:t>
            </a:r>
            <a:br>
              <a:rPr lang="en-US" dirty="0"/>
            </a:br>
            <a:r>
              <a:rPr dirty="0"/>
              <a:t>Library Book Inventory Manager</a:t>
            </a:r>
            <a:endParaRPr lang="en-US" dirty="0"/>
          </a:p>
        </p:txBody>
      </p:sp>
      <p:sp>
        <p:nvSpPr>
          <p:cNvPr id="3" name="Content Placeholder 2"/>
          <p:cNvSpPr>
            <a:spLocks noGrp="1"/>
          </p:cNvSpPr>
          <p:nvPr>
            <p:ph idx="1"/>
          </p:nvPr>
        </p:nvSpPr>
        <p:spPr>
          <a:xfrm>
            <a:off x="457200" y="1967724"/>
            <a:ext cx="8229600" cy="4525963"/>
          </a:xfrm>
        </p:spPr>
        <p:txBody>
          <a:bodyPr vert="horz" lIns="91440" tIns="45720" rIns="91440" bIns="45720" rtlCol="0" anchor="t">
            <a:normAutofit/>
          </a:bodyPr>
          <a:lstStyle/>
          <a:p>
            <a:r>
              <a:rPr lang="en-US" dirty="0">
                <a:ea typeface="Calibri"/>
                <a:cs typeface="Calibri"/>
              </a:rPr>
              <a:t>ANET SHERON M VIJAY</a:t>
            </a:r>
            <a:endParaRPr lang="en-US" dirty="0"/>
          </a:p>
          <a:p>
            <a:r>
              <a:rPr lang="en-US" dirty="0"/>
              <a:t>Internship Project for SYNTEX HUB</a:t>
            </a:r>
            <a:endParaRPr dirty="0"/>
          </a:p>
          <a:p>
            <a:endParaRPr lang="en-US" dirty="0">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a:xfrm>
            <a:off x="457200" y="1423788"/>
            <a:ext cx="8229600" cy="4525963"/>
          </a:xfrm>
        </p:spPr>
        <p:txBody>
          <a:bodyPr vert="horz" lIns="91440" tIns="45720" rIns="91440" bIns="45720" rtlCol="0" anchor="t">
            <a:normAutofit lnSpcReduction="10000"/>
          </a:bodyPr>
          <a:lstStyle/>
          <a:p>
            <a:pPr algn="just"/>
            <a:r>
              <a:rPr lang="en-US" dirty="0">
                <a:ea typeface="+mn-lt"/>
                <a:cs typeface="+mn-lt"/>
              </a:rPr>
              <a:t>In many educational institutions and small community libraries, managing books is still done manually using registers, spreadsheets, or handwritten logs. These traditional methods are time-consuming, prone to human errors, and make it difficult to track book availability, issued records, or search for specific titles. As the number of books grows, maintaining accurate records becomes increasingly challenging.</a:t>
            </a:r>
            <a:endParaRPr lang="en-US" dirty="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81870-D088-9632-2A36-B8AB70C2A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63C1A-A037-2DC8-6B1B-1324759D03B7}"/>
              </a:ext>
            </a:extLst>
          </p:cNvPr>
          <p:cNvSpPr>
            <a:spLocks noGrp="1"/>
          </p:cNvSpPr>
          <p:nvPr>
            <p:ph type="title"/>
          </p:nvPr>
        </p:nvSpPr>
        <p:spPr/>
        <p:txBody>
          <a:bodyPr/>
          <a:lstStyle/>
          <a:p>
            <a:r>
              <a:t>Introduction</a:t>
            </a:r>
          </a:p>
        </p:txBody>
      </p:sp>
      <p:sp>
        <p:nvSpPr>
          <p:cNvPr id="3" name="Content Placeholder 2">
            <a:extLst>
              <a:ext uri="{FF2B5EF4-FFF2-40B4-BE49-F238E27FC236}">
                <a16:creationId xmlns:a16="http://schemas.microsoft.com/office/drawing/2014/main" id="{D68EF712-96CD-C521-1F95-8564484FC5BF}"/>
              </a:ext>
            </a:extLst>
          </p:cNvPr>
          <p:cNvSpPr>
            <a:spLocks noGrp="1"/>
          </p:cNvSpPr>
          <p:nvPr>
            <p:ph idx="1"/>
          </p:nvPr>
        </p:nvSpPr>
        <p:spPr>
          <a:xfrm>
            <a:off x="457200" y="1423788"/>
            <a:ext cx="8229600" cy="4525963"/>
          </a:xfrm>
        </p:spPr>
        <p:txBody>
          <a:bodyPr vert="horz" lIns="91440" tIns="45720" rIns="91440" bIns="45720" rtlCol="0" anchor="t">
            <a:normAutofit fontScale="92500" lnSpcReduction="20000"/>
          </a:bodyPr>
          <a:lstStyle/>
          <a:p>
            <a:pPr algn="just"/>
            <a:r>
              <a:rPr lang="en-US" dirty="0">
                <a:ea typeface="+mn-lt"/>
                <a:cs typeface="+mn-lt"/>
              </a:rPr>
              <a:t>To address these issues, this project aims to build a lightweight and efficient </a:t>
            </a:r>
            <a:r>
              <a:rPr lang="en-US" b="1" dirty="0">
                <a:ea typeface="+mn-lt"/>
                <a:cs typeface="+mn-lt"/>
              </a:rPr>
              <a:t>Library Book Inventory Manager</a:t>
            </a:r>
            <a:r>
              <a:rPr lang="en-US" dirty="0">
                <a:ea typeface="+mn-lt"/>
                <a:cs typeface="+mn-lt"/>
              </a:rPr>
              <a:t> using Python. The system focuses on simplifying day-to-day library operations such as adding new books, searching for books, issuing or returning them, and maintaining accurate reports. The application uses fundamental programming concepts like </a:t>
            </a:r>
            <a:r>
              <a:rPr lang="en-US" b="1" dirty="0">
                <a:ea typeface="+mn-lt"/>
                <a:cs typeface="+mn-lt"/>
              </a:rPr>
              <a:t>Object-Oriented Programming (OOP)</a:t>
            </a:r>
            <a:r>
              <a:rPr lang="en-US" dirty="0">
                <a:ea typeface="+mn-lt"/>
                <a:cs typeface="+mn-lt"/>
              </a:rPr>
              <a:t>, </a:t>
            </a:r>
            <a:r>
              <a:rPr lang="en-US" b="1" dirty="0">
                <a:ea typeface="+mn-lt"/>
                <a:cs typeface="+mn-lt"/>
              </a:rPr>
              <a:t>collections</a:t>
            </a:r>
            <a:r>
              <a:rPr lang="en-US" dirty="0">
                <a:ea typeface="+mn-lt"/>
                <a:cs typeface="+mn-lt"/>
              </a:rPr>
              <a:t>, and </a:t>
            </a:r>
            <a:r>
              <a:rPr lang="en-US" b="1" dirty="0">
                <a:ea typeface="+mn-lt"/>
                <a:cs typeface="+mn-lt"/>
              </a:rPr>
              <a:t>file handling</a:t>
            </a:r>
            <a:r>
              <a:rPr lang="en-US" dirty="0">
                <a:ea typeface="+mn-lt"/>
                <a:cs typeface="+mn-lt"/>
              </a:rPr>
              <a:t>, making it both educational and practical.</a:t>
            </a:r>
            <a:endParaRPr lang="en-US" dirty="0">
              <a:ea typeface="Calibri"/>
              <a:cs typeface="Calibri"/>
            </a:endParaRPr>
          </a:p>
        </p:txBody>
      </p:sp>
    </p:spTree>
    <p:extLst>
      <p:ext uri="{BB962C8B-B14F-4D97-AF65-F5344CB8AC3E}">
        <p14:creationId xmlns:p14="http://schemas.microsoft.com/office/powerpoint/2010/main" val="1631226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Aim</a:t>
            </a:r>
          </a:p>
        </p:txBody>
      </p:sp>
      <p:sp>
        <p:nvSpPr>
          <p:cNvPr id="3" name="Content Placeholder 2"/>
          <p:cNvSpPr>
            <a:spLocks noGrp="1"/>
          </p:cNvSpPr>
          <p:nvPr>
            <p:ph idx="1"/>
          </p:nvPr>
        </p:nvSpPr>
        <p:spPr/>
        <p:txBody>
          <a:bodyPr/>
          <a:lstStyle/>
          <a:p>
            <a:r>
              <a:t>To develop a Python application using OOP, lists/dicts, and JSON persistence.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Implemented</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dirty="0"/>
              <a:t>• Add books</a:t>
            </a:r>
            <a:endParaRPr lang="en-US" dirty="0"/>
          </a:p>
          <a:p>
            <a:pPr marL="0" indent="0">
              <a:buNone/>
            </a:pPr>
            <a:r>
              <a:rPr dirty="0"/>
              <a:t>• </a:t>
            </a:r>
            <a:r>
              <a:rPr lang="en-US" dirty="0"/>
              <a:t>Search by title/author</a:t>
            </a:r>
            <a:endParaRPr lang="en-US" dirty="0">
              <a:ea typeface="Calibri"/>
              <a:cs typeface="Calibri"/>
            </a:endParaRPr>
          </a:p>
          <a:p>
            <a:pPr marL="0" indent="0">
              <a:buNone/>
            </a:pPr>
            <a:r>
              <a:rPr lang="en-US" dirty="0"/>
              <a:t>• Issue/return</a:t>
            </a:r>
            <a:endParaRPr lang="en-US" dirty="0">
              <a:ea typeface="Calibri"/>
              <a:cs typeface="Calibri"/>
            </a:endParaRPr>
          </a:p>
          <a:p>
            <a:pPr marL="0" indent="0">
              <a:buNone/>
            </a:pPr>
            <a:r>
              <a:rPr lang="en-US" dirty="0"/>
              <a:t>• Reports (total &amp; issued count)</a:t>
            </a:r>
            <a:endParaRPr lang="en-US" dirty="0">
              <a:ea typeface="Calibri"/>
              <a:cs typeface="Calibri"/>
            </a:endParaRPr>
          </a:p>
          <a:p>
            <a:pPr marL="0" indent="0">
              <a:buNone/>
            </a:pPr>
            <a:r>
              <a:rPr lang="en-US" dirty="0"/>
              <a:t>• JSON data saving</a:t>
            </a:r>
            <a:endParaRPr lang="en-US" dirty="0">
              <a:ea typeface="Calibri"/>
              <a:cs typeface="Calibri"/>
            </a:endParaRPr>
          </a:p>
          <a:p>
            <a:pPr marL="0" indent="0">
              <a:buNone/>
            </a:pPr>
            <a:r>
              <a:rPr lang="en-US" dirty="0"/>
              <a:t>• </a:t>
            </a:r>
            <a:r>
              <a:rPr dirty="0"/>
              <a:t>Fast lookup using </a:t>
            </a:r>
            <a:r>
              <a:rPr dirty="0" err="1"/>
              <a:t>dict</a:t>
            </a:r>
            <a:r>
              <a:rPr dirty="0"/>
              <a:t> indexes</a:t>
            </a:r>
            <a:endParaRPr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t>• Python</a:t>
            </a:r>
            <a:endParaRPr lang="en-US"/>
          </a:p>
          <a:p>
            <a:pPr marL="0" indent="0">
              <a:buNone/>
            </a:pPr>
            <a:r>
              <a:t>• JSON</a:t>
            </a:r>
            <a:endParaRPr>
              <a:ea typeface="Calibri"/>
              <a:cs typeface="Calibri"/>
            </a:endParaRPr>
          </a:p>
          <a:p>
            <a:pPr marL="0" indent="0">
              <a:buNone/>
            </a:pPr>
            <a:r>
              <a:t>• OOP (Classes)</a:t>
            </a:r>
            <a:endParaRPr>
              <a:ea typeface="Calibri"/>
              <a:cs typeface="Calibri"/>
            </a:endParaRPr>
          </a:p>
          <a:p>
            <a:pPr marL="0" indent="0">
              <a:buNone/>
            </a:pPr>
            <a:r>
              <a:t>• Dictionaries &amp; Lists</a:t>
            </a:r>
            <a:endParaRPr>
              <a:ea typeface="Calibri"/>
              <a:cs typeface="Calibri"/>
            </a:endParaRPr>
          </a:p>
          <a:p>
            <a:pPr marL="0" indent="0">
              <a:buNone/>
            </a:pPr>
            <a:r>
              <a:t>• CLI Interface</a:t>
            </a:r>
            <a:endParaRPr>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Design</a:t>
            </a:r>
          </a:p>
        </p:txBody>
      </p:sp>
      <p:sp>
        <p:nvSpPr>
          <p:cNvPr id="3" name="Content Placeholder 2"/>
          <p:cNvSpPr>
            <a:spLocks noGrp="1"/>
          </p:cNvSpPr>
          <p:nvPr>
            <p:ph idx="1"/>
          </p:nvPr>
        </p:nvSpPr>
        <p:spPr/>
        <p:txBody>
          <a:bodyPr vert="horz" lIns="91440" tIns="45720" rIns="91440" bIns="45720" rtlCol="0" anchor="t">
            <a:normAutofit fontScale="70000" lnSpcReduction="20000"/>
          </a:bodyPr>
          <a:lstStyle/>
          <a:p>
            <a:r>
              <a:rPr lang="en-US" b="1" dirty="0"/>
              <a:t>Book Class – Stores Book Details</a:t>
            </a:r>
            <a:endParaRPr lang="en-US" dirty="0">
              <a:ea typeface="Calibri"/>
              <a:cs typeface="Calibri"/>
            </a:endParaRPr>
          </a:p>
          <a:p>
            <a:r>
              <a:rPr lang="en-US" dirty="0">
                <a:ea typeface="+mn-lt"/>
                <a:cs typeface="+mn-lt"/>
              </a:rPr>
              <a:t>The </a:t>
            </a:r>
            <a:r>
              <a:rPr lang="en-US" dirty="0">
                <a:latin typeface="Consolas"/>
                <a:ea typeface="Calibri"/>
                <a:cs typeface="Calibri"/>
              </a:rPr>
              <a:t>Book</a:t>
            </a:r>
            <a:r>
              <a:rPr lang="en-US" dirty="0">
                <a:ea typeface="+mn-lt"/>
                <a:cs typeface="+mn-lt"/>
              </a:rPr>
              <a:t> class represents each individual book in the library.</a:t>
            </a:r>
            <a:br>
              <a:rPr lang="en-US" dirty="0">
                <a:ea typeface="+mn-lt"/>
                <a:cs typeface="+mn-lt"/>
              </a:rPr>
            </a:br>
            <a:r>
              <a:rPr lang="en-US" dirty="0">
                <a:ea typeface="+mn-lt"/>
                <a:cs typeface="+mn-lt"/>
              </a:rPr>
              <a:t> It stores all essential information such as:</a:t>
            </a:r>
            <a:endParaRPr lang="en-US" dirty="0"/>
          </a:p>
          <a:p>
            <a:r>
              <a:rPr lang="en-US" dirty="0">
                <a:ea typeface="+mn-lt"/>
                <a:cs typeface="+mn-lt"/>
              </a:rPr>
              <a:t>Book ID</a:t>
            </a:r>
            <a:endParaRPr lang="en-US" dirty="0"/>
          </a:p>
          <a:p>
            <a:r>
              <a:rPr lang="en-US" dirty="0">
                <a:ea typeface="+mn-lt"/>
                <a:cs typeface="+mn-lt"/>
              </a:rPr>
              <a:t>Title</a:t>
            </a:r>
            <a:endParaRPr lang="en-US" dirty="0"/>
          </a:p>
          <a:p>
            <a:r>
              <a:rPr lang="en-US" dirty="0">
                <a:ea typeface="+mn-lt"/>
                <a:cs typeface="+mn-lt"/>
              </a:rPr>
              <a:t>Author</a:t>
            </a:r>
            <a:endParaRPr lang="en-US" dirty="0"/>
          </a:p>
          <a:p>
            <a:r>
              <a:rPr lang="en-US" dirty="0">
                <a:ea typeface="+mn-lt"/>
                <a:cs typeface="+mn-lt"/>
              </a:rPr>
              <a:t>Publication year</a:t>
            </a:r>
            <a:endParaRPr lang="en-US" dirty="0"/>
          </a:p>
          <a:p>
            <a:r>
              <a:rPr lang="en-US" dirty="0">
                <a:ea typeface="+mn-lt"/>
                <a:cs typeface="+mn-lt"/>
              </a:rPr>
              <a:t>ISBN</a:t>
            </a:r>
            <a:endParaRPr lang="en-US" dirty="0"/>
          </a:p>
          <a:p>
            <a:r>
              <a:rPr lang="en-US" dirty="0">
                <a:ea typeface="+mn-lt"/>
                <a:cs typeface="+mn-lt"/>
              </a:rPr>
              <a:t>Issue status (issued or available)</a:t>
            </a:r>
            <a:endParaRPr lang="en-US" dirty="0"/>
          </a:p>
          <a:p>
            <a:r>
              <a:rPr lang="en-US" dirty="0">
                <a:ea typeface="+mn-lt"/>
                <a:cs typeface="+mn-lt"/>
              </a:rPr>
              <a:t>Issue date and issued-to details</a:t>
            </a:r>
            <a:endParaRPr lang="en-US" dirty="0"/>
          </a:p>
          <a:p>
            <a:r>
              <a:rPr lang="en-US" dirty="0">
                <a:ea typeface="+mn-lt"/>
                <a:cs typeface="+mn-lt"/>
              </a:rPr>
              <a:t>This class encapsulates all book-related attributes, making the system organized and object-oriented.</a:t>
            </a:r>
            <a:endParaRPr lang="en-US" dirty="0"/>
          </a:p>
          <a:p>
            <a:endParaRPr lang="en-US" dirty="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D8990-05C6-AC83-43C0-7BC2DB311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1269B-9839-4651-964A-02CB0787DBBE}"/>
              </a:ext>
            </a:extLst>
          </p:cNvPr>
          <p:cNvSpPr>
            <a:spLocks noGrp="1"/>
          </p:cNvSpPr>
          <p:nvPr>
            <p:ph type="title"/>
          </p:nvPr>
        </p:nvSpPr>
        <p:spPr/>
        <p:txBody>
          <a:bodyPr/>
          <a:lstStyle/>
          <a:p>
            <a:r>
              <a:t>System Design</a:t>
            </a:r>
          </a:p>
        </p:txBody>
      </p:sp>
      <p:sp>
        <p:nvSpPr>
          <p:cNvPr id="3" name="Content Placeholder 2">
            <a:extLst>
              <a:ext uri="{FF2B5EF4-FFF2-40B4-BE49-F238E27FC236}">
                <a16:creationId xmlns:a16="http://schemas.microsoft.com/office/drawing/2014/main" id="{BE9D12EE-CBE6-0A35-EB8C-AF3FC9A9D543}"/>
              </a:ext>
            </a:extLst>
          </p:cNvPr>
          <p:cNvSpPr>
            <a:spLocks noGrp="1"/>
          </p:cNvSpPr>
          <p:nvPr>
            <p:ph idx="1"/>
          </p:nvPr>
        </p:nvSpPr>
        <p:spPr/>
        <p:txBody>
          <a:bodyPr vert="horz" lIns="91440" tIns="45720" rIns="91440" bIns="45720" rtlCol="0" anchor="t">
            <a:normAutofit fontScale="85000" lnSpcReduction="20000"/>
          </a:bodyPr>
          <a:lstStyle/>
          <a:p>
            <a:r>
              <a:rPr lang="en-US" b="1" dirty="0"/>
              <a:t>JSON File – Persistent Storage</a:t>
            </a:r>
            <a:endParaRPr lang="en-US" b="1" dirty="0">
              <a:ea typeface="Calibri"/>
              <a:cs typeface="Calibri"/>
            </a:endParaRPr>
          </a:p>
          <a:p>
            <a:r>
              <a:rPr lang="en-US" dirty="0">
                <a:ea typeface="+mn-lt"/>
                <a:cs typeface="+mn-lt"/>
              </a:rPr>
              <a:t>To ensure that data is not lost when the program closes, all book information is saved in a </a:t>
            </a:r>
            <a:r>
              <a:rPr lang="en-US" b="1" dirty="0">
                <a:ea typeface="+mn-lt"/>
                <a:cs typeface="+mn-lt"/>
              </a:rPr>
              <a:t>JSON file</a:t>
            </a:r>
            <a:r>
              <a:rPr lang="en-US" dirty="0">
                <a:ea typeface="+mn-lt"/>
                <a:cs typeface="+mn-lt"/>
              </a:rPr>
              <a:t> named </a:t>
            </a:r>
            <a:r>
              <a:rPr lang="en-US" dirty="0" err="1">
                <a:latin typeface="Consolas"/>
                <a:ea typeface="Calibri"/>
                <a:cs typeface="Calibri"/>
              </a:rPr>
              <a:t>library.json</a:t>
            </a:r>
            <a:r>
              <a:rPr lang="en-US" dirty="0">
                <a:ea typeface="+mn-lt"/>
                <a:cs typeface="+mn-lt"/>
              </a:rPr>
              <a:t>.</a:t>
            </a:r>
            <a:br>
              <a:rPr lang="en-US" dirty="0">
                <a:ea typeface="+mn-lt"/>
                <a:cs typeface="+mn-lt"/>
              </a:rPr>
            </a:br>
            <a:r>
              <a:rPr lang="en-US" dirty="0">
                <a:ea typeface="+mn-lt"/>
                <a:cs typeface="+mn-lt"/>
              </a:rPr>
              <a:t> This file stores:</a:t>
            </a:r>
            <a:endParaRPr lang="en-US" dirty="0"/>
          </a:p>
          <a:p>
            <a:r>
              <a:rPr lang="en-US" dirty="0">
                <a:ea typeface="+mn-lt"/>
                <a:cs typeface="+mn-lt"/>
              </a:rPr>
              <a:t>All book records</a:t>
            </a:r>
            <a:endParaRPr lang="en-US" dirty="0"/>
          </a:p>
          <a:p>
            <a:r>
              <a:rPr lang="en-US" dirty="0">
                <a:ea typeface="+mn-lt"/>
                <a:cs typeface="+mn-lt"/>
              </a:rPr>
              <a:t>Issue details</a:t>
            </a:r>
            <a:endParaRPr lang="en-US" dirty="0"/>
          </a:p>
          <a:p>
            <a:r>
              <a:rPr lang="en-US" dirty="0">
                <a:ea typeface="+mn-lt"/>
                <a:cs typeface="+mn-lt"/>
              </a:rPr>
              <a:t>Next book ID</a:t>
            </a:r>
            <a:endParaRPr lang="en-US" dirty="0"/>
          </a:p>
          <a:p>
            <a:r>
              <a:rPr lang="en-US" dirty="0">
                <a:ea typeface="+mn-lt"/>
                <a:cs typeface="+mn-lt"/>
              </a:rPr>
              <a:t>When the application restarts, it automatically loads this file and restores the library’s state.</a:t>
            </a:r>
            <a:br>
              <a:rPr lang="en-US" dirty="0">
                <a:ea typeface="+mn-lt"/>
                <a:cs typeface="+mn-lt"/>
              </a:rPr>
            </a:br>
            <a:r>
              <a:rPr lang="en-US" dirty="0">
                <a:ea typeface="+mn-lt"/>
                <a:cs typeface="+mn-lt"/>
              </a:rPr>
              <a:t> This makes the project feel like a real system with permanent storage.</a:t>
            </a:r>
            <a:endParaRPr lang="en-US" dirty="0"/>
          </a:p>
          <a:p>
            <a:endParaRPr lang="en-US" b="1" dirty="0">
              <a:ea typeface="Calibri"/>
              <a:cs typeface="Calibri"/>
            </a:endParaRPr>
          </a:p>
        </p:txBody>
      </p:sp>
    </p:spTree>
    <p:extLst>
      <p:ext uri="{BB962C8B-B14F-4D97-AF65-F5344CB8AC3E}">
        <p14:creationId xmlns:p14="http://schemas.microsoft.com/office/powerpoint/2010/main" val="1812457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ED1F4-4A06-AFF9-535E-3DDFE6423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E3FE8-3EDD-AD42-A847-16C89EB0888B}"/>
              </a:ext>
            </a:extLst>
          </p:cNvPr>
          <p:cNvSpPr>
            <a:spLocks noGrp="1"/>
          </p:cNvSpPr>
          <p:nvPr>
            <p:ph type="title"/>
          </p:nvPr>
        </p:nvSpPr>
        <p:spPr/>
        <p:txBody>
          <a:bodyPr/>
          <a:lstStyle/>
          <a:p>
            <a:r>
              <a:t>System Design</a:t>
            </a:r>
          </a:p>
        </p:txBody>
      </p:sp>
      <p:sp>
        <p:nvSpPr>
          <p:cNvPr id="3" name="Content Placeholder 2">
            <a:extLst>
              <a:ext uri="{FF2B5EF4-FFF2-40B4-BE49-F238E27FC236}">
                <a16:creationId xmlns:a16="http://schemas.microsoft.com/office/drawing/2014/main" id="{F151A0D5-B012-773A-1C09-9B9D9D74CBE8}"/>
              </a:ext>
            </a:extLst>
          </p:cNvPr>
          <p:cNvSpPr>
            <a:spLocks noGrp="1"/>
          </p:cNvSpPr>
          <p:nvPr>
            <p:ph idx="1"/>
          </p:nvPr>
        </p:nvSpPr>
        <p:spPr/>
        <p:txBody>
          <a:bodyPr vert="horz" lIns="91440" tIns="45720" rIns="91440" bIns="45720" rtlCol="0" anchor="t">
            <a:normAutofit fontScale="85000" lnSpcReduction="10000"/>
          </a:bodyPr>
          <a:lstStyle/>
          <a:p>
            <a:r>
              <a:rPr lang="en-US" b="1" dirty="0"/>
              <a:t>Dictionaries – HashMap-like Lookup for Fast Search</a:t>
            </a:r>
            <a:endParaRPr lang="en-US" b="1" dirty="0">
              <a:ea typeface="Calibri"/>
              <a:cs typeface="Calibri"/>
            </a:endParaRPr>
          </a:p>
          <a:p>
            <a:r>
              <a:rPr lang="en-US" dirty="0">
                <a:ea typeface="+mn-lt"/>
                <a:cs typeface="+mn-lt"/>
              </a:rPr>
              <a:t>Python dictionaries (</a:t>
            </a:r>
            <a:r>
              <a:rPr lang="en-US" dirty="0" err="1">
                <a:latin typeface="Consolas"/>
                <a:ea typeface="Calibri"/>
                <a:cs typeface="Calibri"/>
              </a:rPr>
              <a:t>dict</a:t>
            </a:r>
            <a:r>
              <a:rPr lang="en-US" dirty="0">
                <a:ea typeface="+mn-lt"/>
                <a:cs typeface="+mn-lt"/>
              </a:rPr>
              <a:t>) are used as indexes for:</a:t>
            </a:r>
            <a:endParaRPr lang="en-US" dirty="0"/>
          </a:p>
          <a:p>
            <a:r>
              <a:rPr lang="en-US" dirty="0" err="1">
                <a:latin typeface="Consolas"/>
                <a:ea typeface="Calibri"/>
                <a:cs typeface="Calibri"/>
              </a:rPr>
              <a:t>books_by_id</a:t>
            </a:r>
            <a:endParaRPr lang="en-US" dirty="0" err="1"/>
          </a:p>
          <a:p>
            <a:r>
              <a:rPr lang="en-US" dirty="0" err="1">
                <a:latin typeface="Consolas"/>
                <a:ea typeface="Calibri"/>
                <a:cs typeface="Calibri"/>
              </a:rPr>
              <a:t>ids_by_title</a:t>
            </a:r>
            <a:endParaRPr lang="en-US" dirty="0" err="1"/>
          </a:p>
          <a:p>
            <a:r>
              <a:rPr lang="en-US" dirty="0" err="1">
                <a:latin typeface="Consolas"/>
                <a:ea typeface="Calibri"/>
                <a:cs typeface="Calibri"/>
              </a:rPr>
              <a:t>ids_by_author</a:t>
            </a:r>
            <a:endParaRPr lang="en-US" dirty="0" err="1"/>
          </a:p>
          <a:p>
            <a:r>
              <a:rPr lang="en-US" dirty="0">
                <a:ea typeface="+mn-lt"/>
                <a:cs typeface="+mn-lt"/>
              </a:rPr>
              <a:t>These work like </a:t>
            </a:r>
            <a:r>
              <a:rPr lang="en-US" b="1" dirty="0" err="1">
                <a:ea typeface="+mn-lt"/>
                <a:cs typeface="+mn-lt"/>
              </a:rPr>
              <a:t>HashMaps</a:t>
            </a:r>
            <a:r>
              <a:rPr lang="en-US" dirty="0">
                <a:ea typeface="+mn-lt"/>
                <a:cs typeface="+mn-lt"/>
              </a:rPr>
              <a:t>, giving:</a:t>
            </a:r>
            <a:endParaRPr lang="en-US" dirty="0"/>
          </a:p>
          <a:p>
            <a:r>
              <a:rPr lang="en-US" dirty="0">
                <a:ea typeface="+mn-lt"/>
                <a:cs typeface="+mn-lt"/>
              </a:rPr>
              <a:t>O(1) average lookup time</a:t>
            </a:r>
            <a:endParaRPr lang="en-US" dirty="0"/>
          </a:p>
          <a:p>
            <a:r>
              <a:rPr lang="en-US" dirty="0">
                <a:ea typeface="+mn-lt"/>
                <a:cs typeface="+mn-lt"/>
              </a:rPr>
              <a:t>Very fast search even for large collections</a:t>
            </a:r>
            <a:endParaRPr lang="en-US" dirty="0"/>
          </a:p>
          <a:p>
            <a:r>
              <a:rPr lang="en-US" dirty="0">
                <a:ea typeface="+mn-lt"/>
                <a:cs typeface="+mn-lt"/>
              </a:rPr>
              <a:t>This makes title/author search efficient and scalable.</a:t>
            </a:r>
            <a:endParaRPr lang="en-US" dirty="0"/>
          </a:p>
          <a:p>
            <a:endParaRPr lang="en-US" b="1" dirty="0">
              <a:ea typeface="Calibri"/>
              <a:cs typeface="Calibri"/>
            </a:endParaRPr>
          </a:p>
        </p:txBody>
      </p:sp>
    </p:spTree>
    <p:extLst>
      <p:ext uri="{BB962C8B-B14F-4D97-AF65-F5344CB8AC3E}">
        <p14:creationId xmlns:p14="http://schemas.microsoft.com/office/powerpoint/2010/main" val="2611808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Code Architecture</a:t>
            </a:r>
          </a:p>
        </p:txBody>
      </p:sp>
      <p:sp>
        <p:nvSpPr>
          <p:cNvPr id="3" name="Content Placeholder 2"/>
          <p:cNvSpPr>
            <a:spLocks noGrp="1"/>
          </p:cNvSpPr>
          <p:nvPr>
            <p:ph idx="1"/>
          </p:nvPr>
        </p:nvSpPr>
        <p:spPr/>
        <p:txBody>
          <a:bodyPr vert="horz" lIns="91440" tIns="45720" rIns="91440" bIns="45720" rtlCol="0" anchor="t">
            <a:normAutofit fontScale="70000" lnSpcReduction="20000"/>
          </a:bodyPr>
          <a:lstStyle/>
          <a:p>
            <a:r>
              <a:rPr lang="en-US" b="1" dirty="0"/>
              <a:t>Book </a:t>
            </a:r>
            <a:r>
              <a:rPr lang="en-US" b="1" dirty="0" err="1"/>
              <a:t>Dataclass</a:t>
            </a:r>
            <a:endParaRPr lang="en-US" dirty="0" err="1">
              <a:ea typeface="Calibri"/>
              <a:cs typeface="Calibri"/>
            </a:endParaRPr>
          </a:p>
          <a:p>
            <a:r>
              <a:rPr lang="en-US" dirty="0">
                <a:ea typeface="+mn-lt"/>
                <a:cs typeface="+mn-lt"/>
              </a:rPr>
              <a:t>The </a:t>
            </a:r>
            <a:r>
              <a:rPr lang="en-US" dirty="0">
                <a:latin typeface="Consolas"/>
                <a:ea typeface="Calibri"/>
                <a:cs typeface="Calibri"/>
              </a:rPr>
              <a:t>Book</a:t>
            </a:r>
            <a:r>
              <a:rPr lang="en-US" dirty="0">
                <a:ea typeface="+mn-lt"/>
                <a:cs typeface="+mn-lt"/>
              </a:rPr>
              <a:t> class is implemented using Python’s </a:t>
            </a:r>
            <a:r>
              <a:rPr lang="en-US" dirty="0">
                <a:latin typeface="Consolas"/>
                <a:ea typeface="Calibri"/>
                <a:cs typeface="Calibri"/>
              </a:rPr>
              <a:t>@dataclass</a:t>
            </a:r>
            <a:r>
              <a:rPr lang="en-US" dirty="0">
                <a:ea typeface="+mn-lt"/>
                <a:cs typeface="+mn-lt"/>
              </a:rPr>
              <a:t> decorator.</a:t>
            </a:r>
            <a:br>
              <a:rPr lang="en-US" dirty="0">
                <a:ea typeface="+mn-lt"/>
                <a:cs typeface="+mn-lt"/>
              </a:rPr>
            </a:br>
            <a:r>
              <a:rPr lang="en-US" dirty="0">
                <a:ea typeface="+mn-lt"/>
                <a:cs typeface="+mn-lt"/>
              </a:rPr>
              <a:t> It stores all attributes related to a book such as:</a:t>
            </a:r>
            <a:endParaRPr lang="en-US" dirty="0"/>
          </a:p>
          <a:p>
            <a:r>
              <a:rPr lang="en-US" dirty="0">
                <a:ea typeface="+mn-lt"/>
                <a:cs typeface="+mn-lt"/>
              </a:rPr>
              <a:t>ID</a:t>
            </a:r>
            <a:endParaRPr lang="en-US" dirty="0"/>
          </a:p>
          <a:p>
            <a:r>
              <a:rPr lang="en-US" dirty="0">
                <a:ea typeface="+mn-lt"/>
                <a:cs typeface="+mn-lt"/>
              </a:rPr>
              <a:t>Title</a:t>
            </a:r>
            <a:endParaRPr lang="en-US" dirty="0"/>
          </a:p>
          <a:p>
            <a:r>
              <a:rPr lang="en-US" dirty="0">
                <a:ea typeface="+mn-lt"/>
                <a:cs typeface="+mn-lt"/>
              </a:rPr>
              <a:t>Author</a:t>
            </a:r>
            <a:endParaRPr lang="en-US" dirty="0"/>
          </a:p>
          <a:p>
            <a:r>
              <a:rPr lang="en-US" dirty="0">
                <a:ea typeface="+mn-lt"/>
                <a:cs typeface="+mn-lt"/>
              </a:rPr>
              <a:t>Year</a:t>
            </a:r>
            <a:endParaRPr lang="en-US" dirty="0"/>
          </a:p>
          <a:p>
            <a:r>
              <a:rPr lang="en-US" dirty="0">
                <a:ea typeface="+mn-lt"/>
                <a:cs typeface="+mn-lt"/>
              </a:rPr>
              <a:t>ISBN</a:t>
            </a:r>
            <a:endParaRPr lang="en-US" dirty="0"/>
          </a:p>
          <a:p>
            <a:r>
              <a:rPr lang="en-US" dirty="0">
                <a:ea typeface="+mn-lt"/>
                <a:cs typeface="+mn-lt"/>
              </a:rPr>
              <a:t>Issued status and issue date</a:t>
            </a:r>
            <a:endParaRPr lang="en-US" dirty="0"/>
          </a:p>
          <a:p>
            <a:r>
              <a:rPr lang="en-US" dirty="0">
                <a:ea typeface="+mn-lt"/>
                <a:cs typeface="+mn-lt"/>
              </a:rPr>
              <a:t>Using a </a:t>
            </a:r>
            <a:r>
              <a:rPr lang="en-US" dirty="0" err="1">
                <a:ea typeface="+mn-lt"/>
                <a:cs typeface="+mn-lt"/>
              </a:rPr>
              <a:t>dataclass</a:t>
            </a:r>
            <a:r>
              <a:rPr lang="en-US" dirty="0">
                <a:ea typeface="+mn-lt"/>
                <a:cs typeface="+mn-lt"/>
              </a:rPr>
              <a:t> automatically generates methods like </a:t>
            </a:r>
            <a:r>
              <a:rPr lang="en-US" dirty="0">
                <a:latin typeface="Consolas"/>
                <a:ea typeface="Calibri"/>
                <a:cs typeface="Calibri"/>
              </a:rPr>
              <a:t>__</a:t>
            </a:r>
            <a:r>
              <a:rPr lang="en-US" dirty="0" err="1">
                <a:latin typeface="Consolas"/>
                <a:ea typeface="Calibri"/>
                <a:cs typeface="Calibri"/>
              </a:rPr>
              <a:t>init</a:t>
            </a:r>
            <a:r>
              <a:rPr lang="en-US" dirty="0">
                <a:latin typeface="Consolas"/>
                <a:ea typeface="Calibri"/>
                <a:cs typeface="Calibri"/>
              </a:rPr>
              <a:t>__()</a:t>
            </a:r>
            <a:r>
              <a:rPr lang="en-US" dirty="0">
                <a:ea typeface="+mn-lt"/>
                <a:cs typeface="+mn-lt"/>
              </a:rPr>
              <a:t> and </a:t>
            </a:r>
            <a:r>
              <a:rPr lang="en-US" dirty="0">
                <a:latin typeface="Consolas"/>
                <a:ea typeface="Calibri"/>
                <a:cs typeface="Calibri"/>
              </a:rPr>
              <a:t>__</a:t>
            </a:r>
            <a:r>
              <a:rPr lang="en-US" dirty="0" err="1">
                <a:latin typeface="Consolas"/>
                <a:ea typeface="Calibri"/>
                <a:cs typeface="Calibri"/>
              </a:rPr>
              <a:t>repr</a:t>
            </a:r>
            <a:r>
              <a:rPr lang="en-US" dirty="0">
                <a:latin typeface="Consolas"/>
                <a:ea typeface="Calibri"/>
                <a:cs typeface="Calibri"/>
              </a:rPr>
              <a:t>__()</a:t>
            </a:r>
            <a:r>
              <a:rPr lang="en-US" dirty="0">
                <a:ea typeface="+mn-lt"/>
                <a:cs typeface="+mn-lt"/>
              </a:rPr>
              <a:t>, making the code cleaner and easier to maintain.</a:t>
            </a:r>
            <a:endParaRPr lang="en-US" dirty="0"/>
          </a:p>
          <a:p>
            <a:endParaRPr lang="en-US" dirty="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A6F51-6794-CD34-30CD-00AA1F8DD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4309B-AA44-7060-EA3B-A716F32B1153}"/>
              </a:ext>
            </a:extLst>
          </p:cNvPr>
          <p:cNvSpPr>
            <a:spLocks noGrp="1"/>
          </p:cNvSpPr>
          <p:nvPr>
            <p:ph type="title"/>
          </p:nvPr>
        </p:nvSpPr>
        <p:spPr/>
        <p:txBody>
          <a:bodyPr/>
          <a:lstStyle/>
          <a:p>
            <a:r>
              <a:t>Code Architecture</a:t>
            </a:r>
          </a:p>
        </p:txBody>
      </p:sp>
      <p:sp>
        <p:nvSpPr>
          <p:cNvPr id="3" name="Content Placeholder 2">
            <a:extLst>
              <a:ext uri="{FF2B5EF4-FFF2-40B4-BE49-F238E27FC236}">
                <a16:creationId xmlns:a16="http://schemas.microsoft.com/office/drawing/2014/main" id="{3DD92753-3387-FCDA-FD65-96F395C84CFC}"/>
              </a:ext>
            </a:extLst>
          </p:cNvPr>
          <p:cNvSpPr>
            <a:spLocks noGrp="1"/>
          </p:cNvSpPr>
          <p:nvPr>
            <p:ph idx="1"/>
          </p:nvPr>
        </p:nvSpPr>
        <p:spPr/>
        <p:txBody>
          <a:bodyPr vert="horz" lIns="91440" tIns="45720" rIns="91440" bIns="45720" rtlCol="0" anchor="t">
            <a:normAutofit fontScale="85000" lnSpcReduction="20000"/>
          </a:bodyPr>
          <a:lstStyle/>
          <a:p>
            <a:r>
              <a:rPr lang="en-US" b="1" dirty="0"/>
              <a:t>Library Functions</a:t>
            </a:r>
            <a:endParaRPr lang="en-US" dirty="0">
              <a:ea typeface="Calibri"/>
              <a:cs typeface="Calibri"/>
            </a:endParaRPr>
          </a:p>
          <a:p>
            <a:r>
              <a:rPr lang="en-US" dirty="0">
                <a:ea typeface="+mn-lt"/>
                <a:cs typeface="+mn-lt"/>
              </a:rPr>
              <a:t>The </a:t>
            </a:r>
            <a:r>
              <a:rPr lang="en-US" dirty="0">
                <a:latin typeface="Consolas"/>
                <a:ea typeface="Calibri"/>
                <a:cs typeface="Calibri"/>
              </a:rPr>
              <a:t>Library</a:t>
            </a:r>
            <a:r>
              <a:rPr lang="en-US" dirty="0">
                <a:ea typeface="+mn-lt"/>
                <a:cs typeface="+mn-lt"/>
              </a:rPr>
              <a:t> class contains all main operations of the system.</a:t>
            </a:r>
            <a:br>
              <a:rPr lang="en-US" dirty="0">
                <a:ea typeface="+mn-lt"/>
                <a:cs typeface="+mn-lt"/>
              </a:rPr>
            </a:br>
            <a:r>
              <a:rPr lang="en-US" dirty="0">
                <a:ea typeface="+mn-lt"/>
                <a:cs typeface="+mn-lt"/>
              </a:rPr>
              <a:t> It provides methods to:</a:t>
            </a:r>
            <a:endParaRPr lang="en-US" dirty="0"/>
          </a:p>
          <a:p>
            <a:r>
              <a:rPr lang="en-US" dirty="0">
                <a:ea typeface="+mn-lt"/>
                <a:cs typeface="+mn-lt"/>
              </a:rPr>
              <a:t>Add new books</a:t>
            </a:r>
            <a:endParaRPr lang="en-US" dirty="0"/>
          </a:p>
          <a:p>
            <a:r>
              <a:rPr lang="en-US" dirty="0">
                <a:ea typeface="+mn-lt"/>
                <a:cs typeface="+mn-lt"/>
              </a:rPr>
              <a:t>Remove books</a:t>
            </a:r>
            <a:endParaRPr lang="en-US" dirty="0"/>
          </a:p>
          <a:p>
            <a:r>
              <a:rPr lang="en-US" dirty="0">
                <a:ea typeface="+mn-lt"/>
                <a:cs typeface="+mn-lt"/>
              </a:rPr>
              <a:t>Search by title or author</a:t>
            </a:r>
            <a:endParaRPr lang="en-US" dirty="0"/>
          </a:p>
          <a:p>
            <a:r>
              <a:rPr lang="en-US" dirty="0">
                <a:ea typeface="+mn-lt"/>
                <a:cs typeface="+mn-lt"/>
              </a:rPr>
              <a:t>Issue and return books</a:t>
            </a:r>
            <a:endParaRPr lang="en-US" dirty="0"/>
          </a:p>
          <a:p>
            <a:r>
              <a:rPr lang="en-US" dirty="0">
                <a:ea typeface="+mn-lt"/>
                <a:cs typeface="+mn-lt"/>
              </a:rPr>
              <a:t>View reports</a:t>
            </a:r>
            <a:endParaRPr lang="en-US" dirty="0"/>
          </a:p>
          <a:p>
            <a:r>
              <a:rPr lang="en-US" dirty="0">
                <a:ea typeface="+mn-lt"/>
                <a:cs typeface="+mn-lt"/>
              </a:rPr>
              <a:t>This class serves as the </a:t>
            </a:r>
            <a:r>
              <a:rPr lang="en-US" i="1" dirty="0">
                <a:ea typeface="+mn-lt"/>
                <a:cs typeface="+mn-lt"/>
              </a:rPr>
              <a:t>business logic layer</a:t>
            </a:r>
            <a:r>
              <a:rPr lang="en-US" dirty="0">
                <a:ea typeface="+mn-lt"/>
                <a:cs typeface="+mn-lt"/>
              </a:rPr>
              <a:t> of the application.</a:t>
            </a:r>
            <a:endParaRPr lang="en-US" dirty="0"/>
          </a:p>
          <a:p>
            <a:endParaRPr lang="en-US" dirty="0">
              <a:ea typeface="Calibri"/>
              <a:cs typeface="Calibri"/>
            </a:endParaRPr>
          </a:p>
        </p:txBody>
      </p:sp>
    </p:spTree>
    <p:extLst>
      <p:ext uri="{BB962C8B-B14F-4D97-AF65-F5344CB8AC3E}">
        <p14:creationId xmlns:p14="http://schemas.microsoft.com/office/powerpoint/2010/main" val="2420851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5CAB-A857-C24B-BBE8-C244D5439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469B6-14F7-5CFD-EFF1-35012656B007}"/>
              </a:ext>
            </a:extLst>
          </p:cNvPr>
          <p:cNvSpPr>
            <a:spLocks noGrp="1"/>
          </p:cNvSpPr>
          <p:nvPr>
            <p:ph type="title"/>
          </p:nvPr>
        </p:nvSpPr>
        <p:spPr/>
        <p:txBody>
          <a:bodyPr/>
          <a:lstStyle/>
          <a:p>
            <a:r>
              <a:t>Code Architecture</a:t>
            </a:r>
          </a:p>
        </p:txBody>
      </p:sp>
      <p:sp>
        <p:nvSpPr>
          <p:cNvPr id="3" name="Content Placeholder 2">
            <a:extLst>
              <a:ext uri="{FF2B5EF4-FFF2-40B4-BE49-F238E27FC236}">
                <a16:creationId xmlns:a16="http://schemas.microsoft.com/office/drawing/2014/main" id="{D34AA257-7CC7-2093-BDF1-4DE2A2639752}"/>
              </a:ext>
            </a:extLst>
          </p:cNvPr>
          <p:cNvSpPr>
            <a:spLocks noGrp="1"/>
          </p:cNvSpPr>
          <p:nvPr>
            <p:ph idx="1"/>
          </p:nvPr>
        </p:nvSpPr>
        <p:spPr/>
        <p:txBody>
          <a:bodyPr vert="horz" lIns="91440" tIns="45720" rIns="91440" bIns="45720" rtlCol="0" anchor="t">
            <a:normAutofit fontScale="92500" lnSpcReduction="20000"/>
          </a:bodyPr>
          <a:lstStyle/>
          <a:p>
            <a:r>
              <a:rPr lang="en-US" b="1" dirty="0"/>
              <a:t>Search Algorithm</a:t>
            </a:r>
            <a:endParaRPr lang="en-US" dirty="0">
              <a:ea typeface="Calibri"/>
              <a:cs typeface="Calibri"/>
            </a:endParaRPr>
          </a:p>
          <a:p>
            <a:r>
              <a:rPr lang="en-US" dirty="0">
                <a:ea typeface="+mn-lt"/>
                <a:cs typeface="+mn-lt"/>
              </a:rPr>
              <a:t>The system uses dictionary-based lookup for fast searching (HashMap-like).</a:t>
            </a:r>
            <a:br>
              <a:rPr lang="en-US" dirty="0">
                <a:ea typeface="+mn-lt"/>
                <a:cs typeface="+mn-lt"/>
              </a:rPr>
            </a:br>
            <a:r>
              <a:rPr lang="en-US" dirty="0">
                <a:ea typeface="+mn-lt"/>
                <a:cs typeface="+mn-lt"/>
              </a:rPr>
              <a:t> Two indexes are maintained:</a:t>
            </a:r>
            <a:endParaRPr lang="en-US" dirty="0"/>
          </a:p>
          <a:p>
            <a:r>
              <a:rPr lang="en-US" dirty="0" err="1">
                <a:latin typeface="Consolas"/>
                <a:ea typeface="Calibri"/>
                <a:cs typeface="Calibri"/>
              </a:rPr>
              <a:t>ids_by_title</a:t>
            </a:r>
            <a:endParaRPr lang="en-US" dirty="0" err="1"/>
          </a:p>
          <a:p>
            <a:r>
              <a:rPr lang="en-US" dirty="0" err="1">
                <a:latin typeface="Consolas"/>
                <a:ea typeface="Calibri"/>
                <a:cs typeface="Calibri"/>
              </a:rPr>
              <a:t>ids_by_author</a:t>
            </a:r>
            <a:endParaRPr lang="en-US" dirty="0" err="1"/>
          </a:p>
          <a:p>
            <a:r>
              <a:rPr lang="en-US" dirty="0">
                <a:ea typeface="+mn-lt"/>
                <a:cs typeface="+mn-lt"/>
              </a:rPr>
              <a:t>Searching becomes </a:t>
            </a:r>
            <a:r>
              <a:rPr lang="en-US" b="1" dirty="0">
                <a:ea typeface="+mn-lt"/>
                <a:cs typeface="+mn-lt"/>
              </a:rPr>
              <a:t>O(1)</a:t>
            </a:r>
            <a:r>
              <a:rPr lang="en-US" dirty="0">
                <a:ea typeface="+mn-lt"/>
                <a:cs typeface="+mn-lt"/>
              </a:rPr>
              <a:t> for exact matches and very fast for partial matches.</a:t>
            </a:r>
            <a:br>
              <a:rPr lang="en-US" dirty="0">
                <a:ea typeface="+mn-lt"/>
                <a:cs typeface="+mn-lt"/>
              </a:rPr>
            </a:br>
            <a:r>
              <a:rPr lang="en-US" dirty="0">
                <a:ea typeface="+mn-lt"/>
                <a:cs typeface="+mn-lt"/>
              </a:rPr>
              <a:t> This makes the system efficient even with many books.</a:t>
            </a:r>
            <a:endParaRPr lang="en-US" dirty="0"/>
          </a:p>
          <a:p>
            <a:endParaRPr lang="en-US" dirty="0">
              <a:ea typeface="Calibri"/>
              <a:cs typeface="Calibri"/>
            </a:endParaRPr>
          </a:p>
        </p:txBody>
      </p:sp>
    </p:spTree>
    <p:extLst>
      <p:ext uri="{BB962C8B-B14F-4D97-AF65-F5344CB8AC3E}">
        <p14:creationId xmlns:p14="http://schemas.microsoft.com/office/powerpoint/2010/main" val="3472867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87770-7473-6DA7-997D-6788D6641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400E1-99D6-8D07-E7B4-59A9593920C6}"/>
              </a:ext>
            </a:extLst>
          </p:cNvPr>
          <p:cNvSpPr>
            <a:spLocks noGrp="1"/>
          </p:cNvSpPr>
          <p:nvPr>
            <p:ph type="title"/>
          </p:nvPr>
        </p:nvSpPr>
        <p:spPr/>
        <p:txBody>
          <a:bodyPr/>
          <a:lstStyle/>
          <a:p>
            <a:r>
              <a:t>Code Architecture</a:t>
            </a:r>
          </a:p>
        </p:txBody>
      </p:sp>
      <p:sp>
        <p:nvSpPr>
          <p:cNvPr id="3" name="Content Placeholder 2">
            <a:extLst>
              <a:ext uri="{FF2B5EF4-FFF2-40B4-BE49-F238E27FC236}">
                <a16:creationId xmlns:a16="http://schemas.microsoft.com/office/drawing/2014/main" id="{1BE96097-C5C8-90B0-0301-CEFA2764E931}"/>
              </a:ext>
            </a:extLst>
          </p:cNvPr>
          <p:cNvSpPr>
            <a:spLocks noGrp="1"/>
          </p:cNvSpPr>
          <p:nvPr>
            <p:ph idx="1"/>
          </p:nvPr>
        </p:nvSpPr>
        <p:spPr/>
        <p:txBody>
          <a:bodyPr vert="horz" lIns="91440" tIns="45720" rIns="91440" bIns="45720" rtlCol="0" anchor="t">
            <a:normAutofit fontScale="92500"/>
          </a:bodyPr>
          <a:lstStyle/>
          <a:p>
            <a:r>
              <a:rPr lang="en-US" b="1" dirty="0"/>
              <a:t>Issue / Return Logic</a:t>
            </a:r>
            <a:endParaRPr lang="en-US" dirty="0">
              <a:ea typeface="Calibri"/>
              <a:cs typeface="Calibri"/>
            </a:endParaRPr>
          </a:p>
          <a:p>
            <a:r>
              <a:rPr lang="en-US" dirty="0">
                <a:ea typeface="+mn-lt"/>
                <a:cs typeface="+mn-lt"/>
              </a:rPr>
              <a:t>Issuing and returning books is handled by:</a:t>
            </a:r>
            <a:endParaRPr lang="en-US" dirty="0"/>
          </a:p>
          <a:p>
            <a:r>
              <a:rPr lang="en-US" dirty="0">
                <a:ea typeface="+mn-lt"/>
                <a:cs typeface="+mn-lt"/>
              </a:rPr>
              <a:t>Checking if the book exists</a:t>
            </a:r>
            <a:endParaRPr lang="en-US" dirty="0"/>
          </a:p>
          <a:p>
            <a:r>
              <a:rPr lang="en-US" dirty="0">
                <a:ea typeface="+mn-lt"/>
                <a:cs typeface="+mn-lt"/>
              </a:rPr>
              <a:t>Verifying whether it is already issued or available</a:t>
            </a:r>
            <a:endParaRPr lang="en-US" dirty="0"/>
          </a:p>
          <a:p>
            <a:r>
              <a:rPr lang="en-US" dirty="0">
                <a:ea typeface="+mn-lt"/>
                <a:cs typeface="+mn-lt"/>
              </a:rPr>
              <a:t>Updating fields </a:t>
            </a:r>
            <a:r>
              <a:rPr lang="en-US" dirty="0" err="1">
                <a:latin typeface="Consolas"/>
                <a:ea typeface="Calibri"/>
                <a:cs typeface="Calibri"/>
              </a:rPr>
              <a:t>issued_to</a:t>
            </a:r>
            <a:r>
              <a:rPr lang="en-US" dirty="0">
                <a:ea typeface="+mn-lt"/>
                <a:cs typeface="+mn-lt"/>
              </a:rPr>
              <a:t> and </a:t>
            </a:r>
            <a:r>
              <a:rPr lang="en-US" dirty="0" err="1">
                <a:latin typeface="Consolas"/>
                <a:ea typeface="Calibri"/>
                <a:cs typeface="Calibri"/>
              </a:rPr>
              <a:t>issued_date</a:t>
            </a:r>
            <a:endParaRPr lang="en-US" dirty="0" err="1"/>
          </a:p>
          <a:p>
            <a:r>
              <a:rPr lang="en-US" dirty="0">
                <a:ea typeface="+mn-lt"/>
                <a:cs typeface="+mn-lt"/>
              </a:rPr>
              <a:t>This ensures accurate tracking of book availability.</a:t>
            </a:r>
            <a:endParaRPr lang="en-US" dirty="0"/>
          </a:p>
          <a:p>
            <a:endParaRPr lang="en-US" dirty="0">
              <a:ea typeface="Calibri"/>
              <a:cs typeface="Calibri"/>
            </a:endParaRPr>
          </a:p>
        </p:txBody>
      </p:sp>
    </p:spTree>
    <p:extLst>
      <p:ext uri="{BB962C8B-B14F-4D97-AF65-F5344CB8AC3E}">
        <p14:creationId xmlns:p14="http://schemas.microsoft.com/office/powerpoint/2010/main" val="1581744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702E6-31AE-D3FF-2253-FBE8084CA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B1378-5B52-1EA1-60EF-65E83EA74A2A}"/>
              </a:ext>
            </a:extLst>
          </p:cNvPr>
          <p:cNvSpPr>
            <a:spLocks noGrp="1"/>
          </p:cNvSpPr>
          <p:nvPr>
            <p:ph type="title"/>
          </p:nvPr>
        </p:nvSpPr>
        <p:spPr/>
        <p:txBody>
          <a:bodyPr/>
          <a:lstStyle/>
          <a:p>
            <a:r>
              <a:t>Code Architecture</a:t>
            </a:r>
          </a:p>
        </p:txBody>
      </p:sp>
      <p:sp>
        <p:nvSpPr>
          <p:cNvPr id="3" name="Content Placeholder 2">
            <a:extLst>
              <a:ext uri="{FF2B5EF4-FFF2-40B4-BE49-F238E27FC236}">
                <a16:creationId xmlns:a16="http://schemas.microsoft.com/office/drawing/2014/main" id="{58CFC373-FEBB-982A-2D5E-3EB4982AD6EF}"/>
              </a:ext>
            </a:extLst>
          </p:cNvPr>
          <p:cNvSpPr>
            <a:spLocks noGrp="1"/>
          </p:cNvSpPr>
          <p:nvPr>
            <p:ph idx="1"/>
          </p:nvPr>
        </p:nvSpPr>
        <p:spPr/>
        <p:txBody>
          <a:bodyPr vert="horz" lIns="91440" tIns="45720" rIns="91440" bIns="45720" rtlCol="0" anchor="t">
            <a:normAutofit/>
          </a:bodyPr>
          <a:lstStyle/>
          <a:p>
            <a:r>
              <a:rPr lang="en-US" b="1" dirty="0"/>
              <a:t>JSON Save / Load</a:t>
            </a:r>
            <a:endParaRPr lang="en-US" dirty="0">
              <a:ea typeface="Calibri"/>
              <a:cs typeface="Calibri"/>
            </a:endParaRPr>
          </a:p>
          <a:p>
            <a:r>
              <a:rPr lang="en-US" dirty="0">
                <a:ea typeface="+mn-lt"/>
                <a:cs typeface="+mn-lt"/>
              </a:rPr>
              <a:t>To make the system persistent:</a:t>
            </a:r>
          </a:p>
          <a:p>
            <a:r>
              <a:rPr lang="en-US" dirty="0">
                <a:ea typeface="+mn-lt"/>
                <a:cs typeface="+mn-lt"/>
              </a:rPr>
              <a:t>All books are saved into a </a:t>
            </a:r>
            <a:r>
              <a:rPr lang="en-US" dirty="0" err="1">
                <a:latin typeface="Consolas"/>
                <a:ea typeface="Calibri"/>
                <a:cs typeface="Calibri"/>
              </a:rPr>
              <a:t>library.json</a:t>
            </a:r>
            <a:r>
              <a:rPr lang="en-US" dirty="0">
                <a:ea typeface="+mn-lt"/>
                <a:cs typeface="+mn-lt"/>
              </a:rPr>
              <a:t> file</a:t>
            </a:r>
          </a:p>
          <a:p>
            <a:r>
              <a:rPr lang="en-US" dirty="0">
                <a:ea typeface="+mn-lt"/>
                <a:cs typeface="+mn-lt"/>
              </a:rPr>
              <a:t>On startup, the file is read and the library state is restored</a:t>
            </a:r>
            <a:endParaRPr lang="en-US" dirty="0"/>
          </a:p>
          <a:p>
            <a:r>
              <a:rPr lang="en-US" dirty="0">
                <a:ea typeface="+mn-lt"/>
                <a:cs typeface="+mn-lt"/>
              </a:rPr>
              <a:t>This feature ensures that data is never lost, even when the program closes.</a:t>
            </a:r>
            <a:endParaRPr lang="en-US" dirty="0"/>
          </a:p>
          <a:p>
            <a:endParaRPr lang="en-US" dirty="0">
              <a:ea typeface="Calibri"/>
              <a:cs typeface="Calibri"/>
            </a:endParaRPr>
          </a:p>
        </p:txBody>
      </p:sp>
    </p:spTree>
    <p:extLst>
      <p:ext uri="{BB962C8B-B14F-4D97-AF65-F5344CB8AC3E}">
        <p14:creationId xmlns:p14="http://schemas.microsoft.com/office/powerpoint/2010/main" val="4104462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Output Screenshots</a:t>
            </a:r>
          </a:p>
        </p:txBody>
      </p:sp>
      <p:pic>
        <p:nvPicPr>
          <p:cNvPr id="5" name="Content Placeholder 4" descr="A screenshot of a computer">
            <a:extLst>
              <a:ext uri="{FF2B5EF4-FFF2-40B4-BE49-F238E27FC236}">
                <a16:creationId xmlns:a16="http://schemas.microsoft.com/office/drawing/2014/main" id="{775B98E9-2759-6C7C-0FD2-5995D6C73AEB}"/>
              </a:ext>
            </a:extLst>
          </p:cNvPr>
          <p:cNvPicPr>
            <a:picLocks noGrp="1" noChangeAspect="1"/>
          </p:cNvPicPr>
          <p:nvPr>
            <p:ph idx="1"/>
          </p:nvPr>
        </p:nvPicPr>
        <p:blipFill>
          <a:blip r:embed="rId2"/>
          <a:stretch>
            <a:fillRect/>
          </a:stretch>
        </p:blipFill>
        <p:spPr>
          <a:xfrm>
            <a:off x="890587" y="2043906"/>
            <a:ext cx="7362825" cy="3638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CD698-EB27-E8D0-06B5-6F38005D1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CFC38-F032-D69D-8396-84CF6091DA03}"/>
              </a:ext>
            </a:extLst>
          </p:cNvPr>
          <p:cNvSpPr>
            <a:spLocks noGrp="1"/>
          </p:cNvSpPr>
          <p:nvPr>
            <p:ph type="title"/>
          </p:nvPr>
        </p:nvSpPr>
        <p:spPr/>
        <p:txBody>
          <a:bodyPr/>
          <a:lstStyle/>
          <a:p>
            <a:r>
              <a:t>Output Screenshots</a:t>
            </a:r>
          </a:p>
        </p:txBody>
      </p:sp>
      <p:pic>
        <p:nvPicPr>
          <p:cNvPr id="6" name="Content Placeholder 5" descr="A screen shot of a computer&#10;&#10;AI-generated content may be incorrect.">
            <a:extLst>
              <a:ext uri="{FF2B5EF4-FFF2-40B4-BE49-F238E27FC236}">
                <a16:creationId xmlns:a16="http://schemas.microsoft.com/office/drawing/2014/main" id="{53C4D4C9-4065-7D77-D433-138A5D64E4EF}"/>
              </a:ext>
            </a:extLst>
          </p:cNvPr>
          <p:cNvPicPr>
            <a:picLocks noGrp="1" noChangeAspect="1"/>
          </p:cNvPicPr>
          <p:nvPr>
            <p:ph idx="1"/>
          </p:nvPr>
        </p:nvPicPr>
        <p:blipFill>
          <a:blip r:embed="rId2"/>
          <a:stretch>
            <a:fillRect/>
          </a:stretch>
        </p:blipFill>
        <p:spPr>
          <a:xfrm>
            <a:off x="457200" y="2537929"/>
            <a:ext cx="8229600" cy="2650505"/>
          </a:xfrm>
          <a:prstGeom prst="rect">
            <a:avLst/>
          </a:prstGeom>
        </p:spPr>
      </p:pic>
    </p:spTree>
    <p:extLst>
      <p:ext uri="{BB962C8B-B14F-4D97-AF65-F5344CB8AC3E}">
        <p14:creationId xmlns:p14="http://schemas.microsoft.com/office/powerpoint/2010/main" val="189632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Outcomes</a:t>
            </a:r>
          </a:p>
        </p:txBody>
      </p:sp>
      <p:sp>
        <p:nvSpPr>
          <p:cNvPr id="3" name="Content Placeholder 2"/>
          <p:cNvSpPr>
            <a:spLocks noGrp="1"/>
          </p:cNvSpPr>
          <p:nvPr>
            <p:ph idx="1"/>
          </p:nvPr>
        </p:nvSpPr>
        <p:spPr/>
        <p:txBody>
          <a:bodyPr/>
          <a:lstStyle/>
          <a:p>
            <a:r>
              <a:t>• Python OOP</a:t>
            </a:r>
          </a:p>
          <a:p>
            <a:r>
              <a:t>• Collections &amp; indexing</a:t>
            </a:r>
          </a:p>
          <a:p>
            <a:r>
              <a:t>• File handling</a:t>
            </a:r>
          </a:p>
          <a:p>
            <a:r>
              <a:t>• Software design</a:t>
            </a:r>
          </a:p>
          <a:p>
            <a:r>
              <a:t>• Debugging &amp; problem solving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pPr algn="just"/>
            <a:r>
              <a:rPr lang="en-US" dirty="0">
                <a:ea typeface="+mn-lt"/>
                <a:cs typeface="+mn-lt"/>
              </a:rPr>
              <a:t>The Library Book Inventory Manager project successfully demonstrates how Python can be used to build a functional and efficient book management system using core programming concepts. By applying Object-Oriented Programming, collections, and JSON-based persistent storage, this project provides a clean, modular, and scalable solution for managing library operations such as adding books, searching, issuing, returning, and generating reports.</a:t>
            </a:r>
            <a:endParaRPr lang="en-US" dirty="0">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7B25E-7EFF-0053-C06A-F023D3A34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F9FE0-B318-CDAD-F7DF-1F85AA3192C3}"/>
              </a:ext>
            </a:extLst>
          </p:cNvPr>
          <p:cNvSpPr>
            <a:spLocks noGrp="1"/>
          </p:cNvSpPr>
          <p:nvPr>
            <p:ph type="title"/>
          </p:nvPr>
        </p:nvSpPr>
        <p:spPr/>
        <p:txBody>
          <a:bodyPr/>
          <a:lstStyle/>
          <a:p>
            <a:r>
              <a:t>Conclusion</a:t>
            </a:r>
          </a:p>
        </p:txBody>
      </p:sp>
      <p:sp>
        <p:nvSpPr>
          <p:cNvPr id="3" name="Content Placeholder 2">
            <a:extLst>
              <a:ext uri="{FF2B5EF4-FFF2-40B4-BE49-F238E27FC236}">
                <a16:creationId xmlns:a16="http://schemas.microsoft.com/office/drawing/2014/main" id="{0A7923E3-38BE-D721-7D9F-79310C064B3B}"/>
              </a:ext>
            </a:extLst>
          </p:cNvPr>
          <p:cNvSpPr>
            <a:spLocks noGrp="1"/>
          </p:cNvSpPr>
          <p:nvPr>
            <p:ph idx="1"/>
          </p:nvPr>
        </p:nvSpPr>
        <p:spPr/>
        <p:txBody>
          <a:bodyPr vert="horz" lIns="91440" tIns="45720" rIns="91440" bIns="45720" rtlCol="0" anchor="t">
            <a:normAutofit fontScale="92500" lnSpcReduction="20000"/>
          </a:bodyPr>
          <a:lstStyle/>
          <a:p>
            <a:pPr algn="just"/>
            <a:r>
              <a:rPr lang="en-US" dirty="0">
                <a:ea typeface="+mn-lt"/>
                <a:cs typeface="+mn-lt"/>
              </a:rPr>
              <a:t>Through this project, I gained hands-on experience in designing classes, working with dictionaries for fast lookup, implementing search algorithms, handling file storage, and structuring a real-world application. The system is lightweight, easy to extend, and forms a solid foundation for future enhancements such as user accounts, due dates, GUI integration, or database connectivity. Overall, this project strengthened my understanding of Python application development and improved my ability to design practical, real-world software solutions.</a:t>
            </a:r>
            <a:endParaRPr lang="en-US" dirty="0">
              <a:ea typeface="Calibri"/>
              <a:cs typeface="Calibri"/>
            </a:endParaRPr>
          </a:p>
        </p:txBody>
      </p:sp>
    </p:spTree>
    <p:extLst>
      <p:ext uri="{BB962C8B-B14F-4D97-AF65-F5344CB8AC3E}">
        <p14:creationId xmlns:p14="http://schemas.microsoft.com/office/powerpoint/2010/main" val="3932056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TOPIC Library Book Inventory Manager</vt:lpstr>
      <vt:lpstr>Introduction</vt:lpstr>
      <vt:lpstr>Introduction</vt:lpstr>
      <vt:lpstr>Project Aim</vt:lpstr>
      <vt:lpstr>Features Implemented</vt:lpstr>
      <vt:lpstr>Technologies Used</vt:lpstr>
      <vt:lpstr>System Design</vt:lpstr>
      <vt:lpstr>System Design</vt:lpstr>
      <vt:lpstr>System Design</vt:lpstr>
      <vt:lpstr>Code Architecture</vt:lpstr>
      <vt:lpstr>Code Architecture</vt:lpstr>
      <vt:lpstr>Code Architecture</vt:lpstr>
      <vt:lpstr>Code Architecture</vt:lpstr>
      <vt:lpstr>Code Architecture</vt:lpstr>
      <vt:lpstr>Output Screenshots</vt:lpstr>
      <vt:lpstr>Output Screenshots</vt:lpstr>
      <vt:lpstr>Learning Outcomes</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75</cp:revision>
  <dcterms:created xsi:type="dcterms:W3CDTF">2013-01-27T09:14:16Z</dcterms:created>
  <dcterms:modified xsi:type="dcterms:W3CDTF">2025-11-22T15:43:05Z</dcterms:modified>
  <cp:category/>
</cp:coreProperties>
</file>